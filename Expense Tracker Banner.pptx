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5999738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6F6"/>
    <a:srgbClr val="FFFFFF"/>
    <a:srgbClr val="E0EFEA"/>
    <a:srgbClr val="DFF0EA"/>
    <a:srgbClr val="BEBEBE"/>
    <a:srgbClr val="F3F6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" d="100"/>
          <a:sy n="15" d="100"/>
        </p:scale>
        <p:origin x="1426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5891626"/>
            <a:ext cx="30599777" cy="12533242"/>
          </a:xfrm>
        </p:spPr>
        <p:txBody>
          <a:bodyPr anchor="b"/>
          <a:lstStyle>
            <a:lvl1pPr algn="ctr">
              <a:defRPr sz="2362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8908198"/>
            <a:ext cx="26999804" cy="8691601"/>
          </a:xfrm>
        </p:spPr>
        <p:txBody>
          <a:bodyPr/>
          <a:lstStyle>
            <a:lvl1pPr marL="0" indent="0" algn="ctr">
              <a:buNone/>
              <a:defRPr sz="9449"/>
            </a:lvl1pPr>
            <a:lvl2pPr marL="1799996" indent="0" algn="ctr">
              <a:buNone/>
              <a:defRPr sz="7874"/>
            </a:lvl2pPr>
            <a:lvl3pPr marL="3599993" indent="0" algn="ctr">
              <a:buNone/>
              <a:defRPr sz="7087"/>
            </a:lvl3pPr>
            <a:lvl4pPr marL="5399989" indent="0" algn="ctr">
              <a:buNone/>
              <a:defRPr sz="6299"/>
            </a:lvl4pPr>
            <a:lvl5pPr marL="7199986" indent="0" algn="ctr">
              <a:buNone/>
              <a:defRPr sz="6299"/>
            </a:lvl5pPr>
            <a:lvl6pPr marL="8999982" indent="0" algn="ctr">
              <a:buNone/>
              <a:defRPr sz="6299"/>
            </a:lvl6pPr>
            <a:lvl7pPr marL="10799978" indent="0" algn="ctr">
              <a:buNone/>
              <a:defRPr sz="6299"/>
            </a:lvl7pPr>
            <a:lvl8pPr marL="12599975" indent="0" algn="ctr">
              <a:buNone/>
              <a:defRPr sz="6299"/>
            </a:lvl8pPr>
            <a:lvl9pPr marL="14399971" indent="0" algn="ctr">
              <a:buNone/>
              <a:defRPr sz="629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2537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16344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8974945"/>
            <a:ext cx="31049774" cy="14974888"/>
          </a:xfrm>
        </p:spPr>
        <p:txBody>
          <a:bodyPr anchor="b"/>
          <a:lstStyle>
            <a:lvl1pPr>
              <a:defRPr sz="2362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24091502"/>
            <a:ext cx="31049774" cy="7874940"/>
          </a:xfrm>
        </p:spPr>
        <p:txBody>
          <a:bodyPr/>
          <a:lstStyle>
            <a:lvl1pPr marL="0" indent="0">
              <a:buNone/>
              <a:defRPr sz="9449">
                <a:solidFill>
                  <a:schemeClr val="tx1"/>
                </a:solidFill>
              </a:defRPr>
            </a:lvl1pPr>
            <a:lvl2pPr marL="1799996" indent="0">
              <a:buNone/>
              <a:defRPr sz="7874">
                <a:solidFill>
                  <a:schemeClr val="tx1">
                    <a:tint val="75000"/>
                  </a:schemeClr>
                </a:solidFill>
              </a:defRPr>
            </a:lvl2pPr>
            <a:lvl3pPr marL="3599993" indent="0">
              <a:buNone/>
              <a:defRPr sz="7087">
                <a:solidFill>
                  <a:schemeClr val="tx1">
                    <a:tint val="75000"/>
                  </a:schemeClr>
                </a:solidFill>
              </a:defRPr>
            </a:lvl3pPr>
            <a:lvl4pPr marL="5399989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4pPr>
            <a:lvl5pPr marL="7199986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5pPr>
            <a:lvl6pPr marL="8999982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6pPr>
            <a:lvl7pPr marL="10799978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7pPr>
            <a:lvl8pPr marL="12599975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8pPr>
            <a:lvl9pPr marL="14399971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7497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8707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916661"/>
            <a:ext cx="31049774" cy="695828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8824938"/>
            <a:ext cx="15229574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13149904"/>
            <a:ext cx="15229574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8824938"/>
            <a:ext cx="15304578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13149904"/>
            <a:ext cx="15304578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7114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1856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38604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5183304"/>
            <a:ext cx="18224867" cy="25583147"/>
          </a:xfrm>
        </p:spPr>
        <p:txBody>
          <a:bodyPr/>
          <a:lstStyle>
            <a:lvl1pPr>
              <a:defRPr sz="12598"/>
            </a:lvl1pPr>
            <a:lvl2pPr>
              <a:defRPr sz="11024"/>
            </a:lvl2pPr>
            <a:lvl3pPr>
              <a:defRPr sz="9449"/>
            </a:lvl3pPr>
            <a:lvl4pPr>
              <a:defRPr sz="7874"/>
            </a:lvl4pPr>
            <a:lvl5pPr>
              <a:defRPr sz="7874"/>
            </a:lvl5pPr>
            <a:lvl6pPr>
              <a:defRPr sz="7874"/>
            </a:lvl6pPr>
            <a:lvl7pPr>
              <a:defRPr sz="7874"/>
            </a:lvl7pPr>
            <a:lvl8pPr>
              <a:defRPr sz="7874"/>
            </a:lvl8pPr>
            <a:lvl9pPr>
              <a:defRPr sz="787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2926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5183304"/>
            <a:ext cx="18224867" cy="25583147"/>
          </a:xfrm>
        </p:spPr>
        <p:txBody>
          <a:bodyPr anchor="t"/>
          <a:lstStyle>
            <a:lvl1pPr marL="0" indent="0">
              <a:buNone/>
              <a:defRPr sz="12598"/>
            </a:lvl1pPr>
            <a:lvl2pPr marL="1799996" indent="0">
              <a:buNone/>
              <a:defRPr sz="11024"/>
            </a:lvl2pPr>
            <a:lvl3pPr marL="3599993" indent="0">
              <a:buNone/>
              <a:defRPr sz="9449"/>
            </a:lvl3pPr>
            <a:lvl4pPr marL="5399989" indent="0">
              <a:buNone/>
              <a:defRPr sz="7874"/>
            </a:lvl4pPr>
            <a:lvl5pPr marL="7199986" indent="0">
              <a:buNone/>
              <a:defRPr sz="7874"/>
            </a:lvl5pPr>
            <a:lvl6pPr marL="8999982" indent="0">
              <a:buNone/>
              <a:defRPr sz="7874"/>
            </a:lvl6pPr>
            <a:lvl7pPr marL="10799978" indent="0">
              <a:buNone/>
              <a:defRPr sz="7874"/>
            </a:lvl7pPr>
            <a:lvl8pPr marL="12599975" indent="0">
              <a:buNone/>
              <a:defRPr sz="7874"/>
            </a:lvl8pPr>
            <a:lvl9pPr marL="14399971" indent="0">
              <a:buNone/>
              <a:defRPr sz="787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4264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7359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916653"/>
            <a:ext cx="7762444" cy="3050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916653"/>
            <a:ext cx="22837334" cy="305081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0204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916661"/>
            <a:ext cx="31049774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9583264"/>
            <a:ext cx="31049774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7B1F61-8440-4F89-85CA-1A0C45B08BDE}" type="datetimeFigureOut">
              <a:rPr lang="en-IN" smtClean="0"/>
              <a:t>22-01-2026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33366432"/>
            <a:ext cx="1214991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193BEC-4235-433E-9331-C8715D9978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5543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599993" rtl="0" eaLnBrk="1" latinLnBrk="0" hangingPunct="1">
        <a:lnSpc>
          <a:spcPct val="90000"/>
        </a:lnSpc>
        <a:spcBef>
          <a:spcPct val="0"/>
        </a:spcBef>
        <a:buNone/>
        <a:defRPr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98" indent="-899998" algn="l" defTabSz="3599993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95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991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98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984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980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97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973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969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9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93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989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98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982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978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975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971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xpense-tracker-project-byshivamthakur.onrender.com/" TargetMode="External"/><Relationship Id="rId5" Type="http://schemas.openxmlformats.org/officeDocument/2006/relationships/hyperlink" Target="https://github.com/shivamthakur459459-cmd/Expense-Tracker-Project-" TargetMode="Externa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8CC3C47-8724-1CA8-0F1F-3B9CF8C51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35999738" cy="35999738"/>
          </a:xfrm>
          <a:prstGeom prst="rect">
            <a:avLst/>
          </a:prstGeom>
          <a:ln>
            <a:noFill/>
          </a:ln>
          <a:effectLst>
            <a:outerShdw dist="50800" dir="5400000" algn="ctr" rotWithShape="0">
              <a:srgbClr val="000000"/>
            </a:outerShdw>
          </a:effectLst>
        </p:spPr>
      </p:pic>
      <p:sp>
        <p:nvSpPr>
          <p:cNvPr id="34" name="Flowchart: Alternate Process 33">
            <a:extLst>
              <a:ext uri="{FF2B5EF4-FFF2-40B4-BE49-F238E27FC236}">
                <a16:creationId xmlns:a16="http://schemas.microsoft.com/office/drawing/2014/main" id="{E76EFD4A-EB85-D468-C209-AF18247C53DF}"/>
              </a:ext>
            </a:extLst>
          </p:cNvPr>
          <p:cNvSpPr/>
          <p:nvPr/>
        </p:nvSpPr>
        <p:spPr>
          <a:xfrm>
            <a:off x="462110" y="28349636"/>
            <a:ext cx="35075514" cy="7286723"/>
          </a:xfrm>
          <a:prstGeom prst="flowChartAlternateProcess">
            <a:avLst/>
          </a:prstGeom>
          <a:solidFill>
            <a:srgbClr val="F6F6F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6EA48BF5-5357-C04A-1344-E743E38C1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9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6200000">
            <a:off x="10019434" y="1867765"/>
            <a:ext cx="15960869" cy="35999738"/>
          </a:xfrm>
          <a:prstGeom prst="rect">
            <a:avLst/>
          </a:prstGeom>
          <a:gradFill>
            <a:gsLst>
              <a:gs pos="0">
                <a:schemeClr val="accent1">
                  <a:lumMod val="7000"/>
                  <a:lumOff val="93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effectLst>
            <a:outerShdw blurRad="482600" dist="50800" dir="5400000" algn="ctr" rotWithShape="0">
              <a:srgbClr val="000000"/>
            </a:outerShdw>
            <a:reflection endPos="65000" dist="50800" dir="5400000" sy="-100000" algn="bl" rotWithShape="0"/>
          </a:effectLst>
        </p:spPr>
      </p:pic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D55F9346-D41D-1DCC-DB53-032E14B2D53A}"/>
              </a:ext>
            </a:extLst>
          </p:cNvPr>
          <p:cNvSpPr/>
          <p:nvPr/>
        </p:nvSpPr>
        <p:spPr>
          <a:xfrm>
            <a:off x="276919" y="6895813"/>
            <a:ext cx="35445896" cy="3881378"/>
          </a:xfrm>
          <a:prstGeom prst="flowChartProcess">
            <a:avLst/>
          </a:prstGeom>
          <a:solidFill>
            <a:srgbClr val="FFFFFF">
              <a:alpha val="51000"/>
            </a:srgbClr>
          </a:solidFill>
          <a:effectLst>
            <a:reflection blurRad="1270000" stA="0" endPos="6500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Flowchart: Process 29">
            <a:extLst>
              <a:ext uri="{FF2B5EF4-FFF2-40B4-BE49-F238E27FC236}">
                <a16:creationId xmlns:a16="http://schemas.microsoft.com/office/drawing/2014/main" id="{E6AA4EDA-2B67-C2A4-8329-58E80D2D2283}"/>
              </a:ext>
            </a:extLst>
          </p:cNvPr>
          <p:cNvSpPr/>
          <p:nvPr/>
        </p:nvSpPr>
        <p:spPr>
          <a:xfrm>
            <a:off x="7112000" y="1524001"/>
            <a:ext cx="21082000" cy="4376392"/>
          </a:xfrm>
          <a:prstGeom prst="flowChartProcess">
            <a:avLst/>
          </a:prstGeom>
          <a:solidFill>
            <a:srgbClr val="DFF0EA">
              <a:alpha val="0"/>
            </a:srgbClr>
          </a:solidFill>
          <a:effectLst>
            <a:outerShdw blurRad="12700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391C54-5E51-C23F-A16B-9084B51D2575}"/>
              </a:ext>
            </a:extLst>
          </p:cNvPr>
          <p:cNvSpPr txBox="1"/>
          <p:nvPr/>
        </p:nvSpPr>
        <p:spPr>
          <a:xfrm>
            <a:off x="9342834" y="2488175"/>
            <a:ext cx="1662033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0" b="1" dirty="0">
                <a:solidFill>
                  <a:schemeClr val="accent6">
                    <a:lumMod val="50000"/>
                  </a:schemeClr>
                </a:solidFill>
              </a:rPr>
              <a:t>Expense Tracker System</a:t>
            </a:r>
            <a:endParaRPr lang="en-IN" sz="13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3A9408-A98F-80A2-BA19-8DC6AA144A38}"/>
              </a:ext>
            </a:extLst>
          </p:cNvPr>
          <p:cNvSpPr txBox="1"/>
          <p:nvPr/>
        </p:nvSpPr>
        <p:spPr>
          <a:xfrm>
            <a:off x="647304" y="12461889"/>
            <a:ext cx="7429896" cy="115416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143000" indent="-1143000">
              <a:buFont typeface="Wingdings" panose="05000000000000000000" pitchFamily="2" charset="2"/>
              <a:buChar char="§"/>
            </a:pPr>
            <a:r>
              <a:rPr lang="en-US" sz="6600" b="1" dirty="0"/>
              <a:t>Introduction Of Project </a:t>
            </a:r>
          </a:p>
          <a:p>
            <a:pPr algn="ctr"/>
            <a:endParaRPr lang="en-US" sz="7200" dirty="0"/>
          </a:p>
          <a:p>
            <a:r>
              <a:rPr lang="en-US" sz="6000" dirty="0"/>
              <a:t>The Expense Tracker System helps users record daily expenses easily . It shows how much money is spent in different categories and helps users manage their budget in better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780C1C-6186-C9EE-1A36-5EECE7686599}"/>
              </a:ext>
            </a:extLst>
          </p:cNvPr>
          <p:cNvSpPr txBox="1"/>
          <p:nvPr/>
        </p:nvSpPr>
        <p:spPr>
          <a:xfrm>
            <a:off x="8724505" y="12520796"/>
            <a:ext cx="8310166" cy="15327273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marL="857250" indent="-857250">
              <a:buFont typeface="Wingdings" panose="05000000000000000000" pitchFamily="2" charset="2"/>
              <a:buChar char="§"/>
            </a:pPr>
            <a:r>
              <a:rPr lang="en-US" sz="6600" b="1" dirty="0"/>
              <a:t>Working of Project</a:t>
            </a:r>
          </a:p>
          <a:p>
            <a:endParaRPr lang="en-US" sz="7200" b="1" dirty="0"/>
          </a:p>
          <a:p>
            <a:endParaRPr lang="en-US" sz="7200" b="1" dirty="0"/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6000" dirty="0"/>
              <a:t>User</a:t>
            </a:r>
            <a:r>
              <a:rPr lang="en-US" sz="6000" b="1" dirty="0"/>
              <a:t> </a:t>
            </a:r>
            <a:r>
              <a:rPr lang="en-US" sz="6000" dirty="0"/>
              <a:t>logs into the system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6000" dirty="0"/>
              <a:t>User adds daily expenses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6000" dirty="0"/>
              <a:t>Expenses are saved in database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6000" dirty="0"/>
              <a:t>User sets monthly budget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6000" dirty="0"/>
              <a:t>System shows total, average, and charts</a:t>
            </a:r>
          </a:p>
          <a:p>
            <a:pPr marL="1143000" indent="-1143000">
              <a:buFont typeface="Arial" panose="020B0604020202020204" pitchFamily="34" charset="0"/>
              <a:buChar char="•"/>
            </a:pPr>
            <a:r>
              <a:rPr lang="en-US" sz="6000" dirty="0"/>
              <a:t>Warning is shown when budget is exceeded</a:t>
            </a:r>
            <a:endParaRPr lang="en-IN" sz="6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EB148B-A823-B72D-0E12-4E10A7A67176}"/>
              </a:ext>
            </a:extLst>
          </p:cNvPr>
          <p:cNvSpPr txBox="1"/>
          <p:nvPr/>
        </p:nvSpPr>
        <p:spPr>
          <a:xfrm>
            <a:off x="18232834" y="12520796"/>
            <a:ext cx="8077200" cy="124649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buFont typeface="Wingdings" panose="05000000000000000000" pitchFamily="2" charset="2"/>
              <a:buChar char="§"/>
            </a:pPr>
            <a:r>
              <a:rPr lang="en-US" sz="6600" b="1" dirty="0"/>
              <a:t>Applications Of Project</a:t>
            </a:r>
          </a:p>
          <a:p>
            <a:endParaRPr lang="en-US" sz="7200" b="1" dirty="0"/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Tracks daily and monthly expenses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Helps control unnecessary spending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Improves financial planning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Shows expense analysis using charts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Useful for students and individuals</a:t>
            </a:r>
            <a:endParaRPr lang="en-IN" sz="6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0336E3-2B43-4A55-8D8A-EF821C2B4FAC}"/>
              </a:ext>
            </a:extLst>
          </p:cNvPr>
          <p:cNvSpPr txBox="1"/>
          <p:nvPr/>
        </p:nvSpPr>
        <p:spPr>
          <a:xfrm>
            <a:off x="27275233" y="12461889"/>
            <a:ext cx="8077200" cy="15050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buFont typeface="Wingdings" panose="05000000000000000000" pitchFamily="2" charset="2"/>
              <a:buChar char="§"/>
            </a:pPr>
            <a:r>
              <a:rPr lang="en-US" sz="6600" b="1" dirty="0"/>
              <a:t>Future Scope and Other Factors</a:t>
            </a:r>
          </a:p>
          <a:p>
            <a:pPr algn="just"/>
            <a:endParaRPr lang="en-US" sz="6000" dirty="0"/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OTP based secure login system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Email alert when budget is exceeded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Mobile application support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AI based expense prediction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b="1" dirty="0"/>
              <a:t>Note: </a:t>
            </a:r>
            <a:r>
              <a:rPr lang="en-US" sz="6000" dirty="0"/>
              <a:t>Email alert feature is planned but currently not working due to limitations of free hosting service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F79EEA-F831-D64C-1B14-0C3702C7F027}"/>
              </a:ext>
            </a:extLst>
          </p:cNvPr>
          <p:cNvSpPr txBox="1"/>
          <p:nvPr/>
        </p:nvSpPr>
        <p:spPr>
          <a:xfrm>
            <a:off x="880269" y="7443378"/>
            <a:ext cx="34705129" cy="3046988"/>
          </a:xfrm>
          <a:prstGeom prst="rect">
            <a:avLst/>
          </a:prstGeom>
          <a:noFill/>
          <a:effectLst>
            <a:outerShdw blurRad="1041400" dist="50800" dir="5400000" algn="ctr" rotWithShape="0">
              <a:srgbClr val="000000">
                <a:alpha val="18000"/>
              </a:srgbClr>
            </a:outerShdw>
          </a:effectLst>
        </p:spPr>
        <p:txBody>
          <a:bodyPr wrap="square" lIns="72000" rtlCol="0">
            <a:spAutoFit/>
          </a:bodyPr>
          <a:lstStyle/>
          <a:p>
            <a:pPr marL="857250" indent="-857250">
              <a:buFont typeface="Wingdings" panose="05000000000000000000" pitchFamily="2" charset="2"/>
              <a:buChar char="§"/>
            </a:pPr>
            <a:r>
              <a:rPr lang="en-US" sz="7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Problem Statement </a:t>
            </a:r>
            <a:r>
              <a:rPr lang="en-US" sz="6600" b="1" dirty="0"/>
              <a:t>: </a:t>
            </a:r>
            <a:r>
              <a:rPr lang="en-US" sz="6000" dirty="0"/>
              <a:t>People often forget where their money is spent. Manual expense tracking is difficult and confusing. This causes overspending and poor money management. A simple digital system is needed to track expenses and control budget.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43F39F-C5A5-1C3D-CD41-75C70655EF4D}"/>
              </a:ext>
            </a:extLst>
          </p:cNvPr>
          <p:cNvSpPr txBox="1"/>
          <p:nvPr/>
        </p:nvSpPr>
        <p:spPr>
          <a:xfrm>
            <a:off x="2311005" y="28656513"/>
            <a:ext cx="29447331" cy="6832640"/>
          </a:xfrm>
          <a:prstGeom prst="rect">
            <a:avLst/>
          </a:prstGeom>
          <a:noFill/>
          <a:effectLst>
            <a:outerShdw blurRad="1244600" dist="50800" dir="5400000" algn="ctr" rotWithShape="0">
              <a:srgbClr val="000000">
                <a:alpha val="0"/>
              </a:srgbClr>
            </a:outerShdw>
          </a:effectLst>
        </p:spPr>
        <p:txBody>
          <a:bodyPr wrap="square" lIns="72000" rtlCol="0">
            <a:spAutoFit/>
          </a:bodyPr>
          <a:lstStyle/>
          <a:p>
            <a:r>
              <a:rPr lang="en-US" sz="7200" b="1" dirty="0"/>
              <a:t>References :  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b="1" dirty="0"/>
              <a:t>GitHub Repository: </a:t>
            </a:r>
            <a:r>
              <a:rPr lang="en-US" sz="6000" dirty="0">
                <a:hlinkClick r:id="rId5"/>
              </a:rPr>
              <a:t>https://github.com/shivamthakur459459-cmd/Expense-Tracker-Project-</a:t>
            </a:r>
            <a:endParaRPr lang="en-US" sz="6000" dirty="0"/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b="1" dirty="0"/>
              <a:t>Live Project Link    : </a:t>
            </a:r>
            <a:r>
              <a:rPr lang="en-US" sz="6000" dirty="0">
                <a:hlinkClick r:id="rId6"/>
              </a:rPr>
              <a:t>https://expense-tracker-project-byshivamthakur</a:t>
            </a:r>
            <a:r>
              <a:rPr lang="en-US" sz="6600" b="1" dirty="0">
                <a:hlinkClick r:id="rId6"/>
              </a:rPr>
              <a:t>.</a:t>
            </a:r>
            <a:r>
              <a:rPr lang="en-US" sz="6000" dirty="0">
                <a:hlinkClick r:id="rId6"/>
              </a:rPr>
              <a:t>onrender.com/</a:t>
            </a:r>
            <a:endParaRPr lang="en-US" sz="6000" dirty="0"/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Python Programing </a:t>
            </a:r>
            <a:r>
              <a:rPr lang="en-US" sz="6000" dirty="0" err="1"/>
              <a:t>Langauge</a:t>
            </a:r>
            <a:r>
              <a:rPr lang="en-US" sz="6000" dirty="0"/>
              <a:t> 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Pandas ,</a:t>
            </a:r>
            <a:r>
              <a:rPr lang="en-US" sz="6000" dirty="0" err="1"/>
              <a:t>Numpy</a:t>
            </a:r>
            <a:r>
              <a:rPr lang="en-US" sz="6000" dirty="0"/>
              <a:t> &amp; Matplotlib Libraries 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 err="1"/>
              <a:t>Streamlit</a:t>
            </a:r>
            <a:r>
              <a:rPr lang="en-US" sz="6000" dirty="0"/>
              <a:t> For Web Interface 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en-US" sz="6000" dirty="0"/>
              <a:t>SQL Lite Database </a:t>
            </a:r>
          </a:p>
        </p:txBody>
      </p:sp>
    </p:spTree>
    <p:extLst>
      <p:ext uri="{BB962C8B-B14F-4D97-AF65-F5344CB8AC3E}">
        <p14:creationId xmlns:p14="http://schemas.microsoft.com/office/powerpoint/2010/main" val="1485322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203</TotalTime>
  <Words>222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shivam thakur</dc:creator>
  <cp:lastModifiedBy>shivam thakur</cp:lastModifiedBy>
  <cp:revision>3</cp:revision>
  <dcterms:created xsi:type="dcterms:W3CDTF">2026-01-21T15:15:06Z</dcterms:created>
  <dcterms:modified xsi:type="dcterms:W3CDTF">2026-01-22T12:29:28Z</dcterms:modified>
</cp:coreProperties>
</file>